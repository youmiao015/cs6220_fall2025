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44f39f502_2_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a44f39f502_2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44f39f502_2_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44f39f502_2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44f39f502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44f39f502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44f39f502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a44f39f502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44f39f502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44f39f502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44f39f502_2_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44f39f502_2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44f39f502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44f39f502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44f39f502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44f39f502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44f39f502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44f39f502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44f39f502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44f39f502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44f39f50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44f39f50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44f39f50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44f39f50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44f39f50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44f39f50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44f39f50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44f39f50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551b4b30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551b4b30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B3A369"/>
              </a:buClr>
              <a:buSzPts val="1400"/>
              <a:buNone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ech Tower">
  <p:cSld name="Title - Tech Tow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Full Photo">
  <p:cSld name="Title - Full Ph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3">
            <a:alphaModFix/>
          </a:blip>
          <a:srcRect b="0" l="0" r="0" t="73770"/>
          <a:stretch/>
        </p:blipFill>
        <p:spPr>
          <a:xfrm>
            <a:off x="1" y="3794384"/>
            <a:ext cx="9143999" cy="1349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Plain">
  <p:cSld name="Title - Plai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Kendeda">
  <p:cSld name="Title - Kende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Wreck">
  <p:cSld name="TItle - Wrec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285750" y="911614"/>
            <a:ext cx="8572499" cy="31692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285751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400"/>
              <a:buFont typeface="Roboto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3481753" y="342901"/>
            <a:ext cx="5376497" cy="405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285751" y="1706137"/>
            <a:ext cx="2949575" cy="2695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s">
  <p:cSld name="Char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24"/>
          <p:cNvSpPr/>
          <p:nvPr>
            <p:ph idx="2" type="chart"/>
          </p:nvPr>
        </p:nvSpPr>
        <p:spPr>
          <a:xfrm>
            <a:off x="285750" y="1076325"/>
            <a:ext cx="563284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087666" y="1076325"/>
            <a:ext cx="2770584" cy="2563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285751" y="926335"/>
            <a:ext cx="4213225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0" name="Google Shape;100;p25"/>
          <p:cNvSpPr txBox="1"/>
          <p:nvPr>
            <p:ph idx="2" type="body"/>
          </p:nvPr>
        </p:nvSpPr>
        <p:spPr>
          <a:xfrm>
            <a:off x="285751" y="1558994"/>
            <a:ext cx="4213225" cy="25218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3" type="body"/>
          </p:nvPr>
        </p:nvSpPr>
        <p:spPr>
          <a:xfrm>
            <a:off x="4629150" y="926335"/>
            <a:ext cx="422910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25"/>
          <p:cNvSpPr txBox="1"/>
          <p:nvPr>
            <p:ph idx="4" type="body"/>
          </p:nvPr>
        </p:nvSpPr>
        <p:spPr>
          <a:xfrm>
            <a:off x="4629150" y="1558994"/>
            <a:ext cx="4229100" cy="25218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5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284286" y="911612"/>
            <a:ext cx="4211515" cy="31692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2" type="body"/>
          </p:nvPr>
        </p:nvSpPr>
        <p:spPr>
          <a:xfrm>
            <a:off x="4648200" y="911612"/>
            <a:ext cx="4210050" cy="31692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Galler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7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7"/>
          <p:cNvSpPr/>
          <p:nvPr>
            <p:ph idx="2" type="pic"/>
          </p:nvPr>
        </p:nvSpPr>
        <p:spPr>
          <a:xfrm>
            <a:off x="285750" y="1069052"/>
            <a:ext cx="2305852" cy="1561391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7"/>
          <p:cNvSpPr/>
          <p:nvPr>
            <p:ph idx="3" type="pic"/>
          </p:nvPr>
        </p:nvSpPr>
        <p:spPr>
          <a:xfrm>
            <a:off x="2828546" y="1069052"/>
            <a:ext cx="2305852" cy="1561391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7"/>
          <p:cNvSpPr/>
          <p:nvPr>
            <p:ph idx="4" type="pic"/>
          </p:nvPr>
        </p:nvSpPr>
        <p:spPr>
          <a:xfrm>
            <a:off x="5383605" y="1069052"/>
            <a:ext cx="2305852" cy="1561391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7"/>
          <p:cNvSpPr/>
          <p:nvPr>
            <p:ph idx="5" type="pic"/>
          </p:nvPr>
        </p:nvSpPr>
        <p:spPr>
          <a:xfrm>
            <a:off x="285750" y="2829069"/>
            <a:ext cx="2305852" cy="1561391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7"/>
          <p:cNvSpPr/>
          <p:nvPr>
            <p:ph idx="6" type="pic"/>
          </p:nvPr>
        </p:nvSpPr>
        <p:spPr>
          <a:xfrm>
            <a:off x="2828546" y="2829069"/>
            <a:ext cx="2305852" cy="1561391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7"/>
          <p:cNvSpPr/>
          <p:nvPr>
            <p:ph idx="7" type="pic"/>
          </p:nvPr>
        </p:nvSpPr>
        <p:spPr>
          <a:xfrm>
            <a:off x="5383605" y="2829069"/>
            <a:ext cx="2305852" cy="15613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285751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400"/>
              <a:buFont typeface="Roboto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8"/>
          <p:cNvSpPr/>
          <p:nvPr>
            <p:ph idx="2" type="pic"/>
          </p:nvPr>
        </p:nvSpPr>
        <p:spPr>
          <a:xfrm>
            <a:off x="3460652" y="342901"/>
            <a:ext cx="5397598" cy="373795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285751" y="1706138"/>
            <a:ext cx="2949575" cy="23747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6" name="Google Shape;126;p28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1835331" y="1260565"/>
            <a:ext cx="6511834" cy="20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4500"/>
              <a:buFont typeface="Roboto"/>
              <a:buNone/>
            </a:pPr>
            <a:r>
              <a:t/>
            </a:r>
            <a:endParaRPr b="1" i="0" sz="4500" u="none" cap="none" strike="noStrike">
              <a:solidFill>
                <a:srgbClr val="003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B3A36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B3A3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700"/>
              <a:buFont typeface="Roboto"/>
              <a:buNone/>
              <a:defRPr b="1" i="0" sz="27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5" name="Google Shape;75;p20"/>
          <p:cNvSpPr txBox="1"/>
          <p:nvPr>
            <p:ph idx="1" type="body"/>
          </p:nvPr>
        </p:nvSpPr>
        <p:spPr>
          <a:xfrm>
            <a:off x="285750" y="911614"/>
            <a:ext cx="8572499" cy="31692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0"/>
          <p:cNvSpPr txBox="1"/>
          <p:nvPr>
            <p:ph idx="10" type="dt"/>
          </p:nvPr>
        </p:nvSpPr>
        <p:spPr>
          <a:xfrm>
            <a:off x="1056247" y="4636905"/>
            <a:ext cx="115999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285750" y="4636905"/>
            <a:ext cx="6874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888C9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2.jpg"/><Relationship Id="rId5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1835331" y="1384663"/>
            <a:ext cx="6680019" cy="1946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</a:pPr>
            <a:r>
              <a:rPr lang="en"/>
              <a:t>Multimodal RAG for Med-VQA</a:t>
            </a:r>
            <a:endParaRPr/>
          </a:p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1835331" y="3331027"/>
            <a:ext cx="6680019" cy="4694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3A369"/>
              </a:buClr>
              <a:buSzPts val="1400"/>
              <a:buNone/>
            </a:pPr>
            <a:r>
              <a:rPr lang="en"/>
              <a:t>Group 13: Yuehan Zhang, Xianrui Teng, Miao You, Jiaxuan Li, Kan Lu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285750" y="911625"/>
            <a:ext cx="5494200" cy="3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Char char="•"/>
            </a:pPr>
            <a:r>
              <a:rPr lang="en"/>
              <a:t>Why Medical VQA?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</a:pPr>
            <a:r>
              <a:rPr lang="en" sz="1400"/>
              <a:t>Med-VQA = answering clinical questions about medical images (X-ray, CT, MRI) with natural language.</a:t>
            </a:r>
            <a:endParaRPr sz="1400"/>
          </a:p>
          <a:p>
            <a:pPr indent="0" lvl="0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Harder than general VQA: subtle anatomical features, pathology reasoning, and modality understanding.</a:t>
            </a:r>
            <a:endParaRPr sz="1400"/>
          </a:p>
          <a:p>
            <a:pPr indent="-762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None/>
            </a:pPr>
            <a:r>
              <a:t/>
            </a:r>
            <a:endParaRPr/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Char char="•"/>
            </a:pPr>
            <a:r>
              <a:rPr lang="en"/>
              <a:t>Potential use cases: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</a:pPr>
            <a:r>
              <a:rPr lang="en"/>
              <a:t>Support radiologists and clinicians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400"/>
              <a:buChar char="•"/>
            </a:pPr>
            <a:r>
              <a:rPr lang="en"/>
              <a:t>Clinical training &amp; education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Patient-facing explanations</a:t>
            </a:r>
            <a:endParaRPr/>
          </a:p>
        </p:txBody>
      </p:sp>
      <p:sp>
        <p:nvSpPr>
          <p:cNvPr id="139" name="Google Shape;139;p30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700"/>
              <a:buFont typeface="Roboto"/>
              <a:buNone/>
            </a:pPr>
            <a:r>
              <a:rPr lang="en"/>
              <a:t>I</a:t>
            </a:r>
            <a:r>
              <a:rPr lang="en"/>
              <a:t>ntroduction</a:t>
            </a:r>
            <a:endParaRPr/>
          </a:p>
        </p:txBody>
      </p:sp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675" y="967800"/>
            <a:ext cx="2525351" cy="252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5779950" y="3626350"/>
            <a:ext cx="31899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3057"/>
                </a:solidFill>
                <a:latin typeface="Roboto"/>
                <a:ea typeface="Roboto"/>
                <a:cs typeface="Roboto"/>
                <a:sym typeface="Roboto"/>
              </a:rPr>
              <a:t>ImageCLEF / LifeCLEF - Multimedia Retrieval in CLEF</a:t>
            </a:r>
            <a:endParaRPr sz="900">
              <a:solidFill>
                <a:srgbClr val="0030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285750" y="911625"/>
            <a:ext cx="8402700" cy="3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Char char="•"/>
            </a:pPr>
            <a:r>
              <a:rPr lang="en"/>
              <a:t>Multimodal Retrieval-Augmented Generation with LLMs for Medical VQA (MasonNLP @ MEDIQA-WV 2025).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None/>
            </a:pPr>
            <a:r>
              <a:t/>
            </a:r>
            <a:endParaRPr/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Char char="•"/>
            </a:pPr>
            <a:r>
              <a:rPr lang="en"/>
              <a:t>Key idea</a:t>
            </a:r>
            <a:r>
              <a:rPr lang="en"/>
              <a:t>: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Use a </a:t>
            </a:r>
            <a:r>
              <a:rPr b="1" lang="en"/>
              <a:t>general-domain instruction-tuned LLM</a:t>
            </a:r>
            <a:endParaRPr b="1"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 a </a:t>
            </a:r>
            <a:r>
              <a:rPr b="1" lang="en"/>
              <a:t>lightweight RAG layer</a:t>
            </a:r>
            <a:r>
              <a:rPr lang="en"/>
              <a:t> that retrieves similar text + image exemplars from the dataset at inference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4150" lvl="1" marL="5207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>
                <a:solidFill>
                  <a:schemeClr val="dk1"/>
                </a:solidFill>
              </a:rPr>
              <a:t>Benefits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177800" lvl="2" marL="863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>
                <a:solidFill>
                  <a:schemeClr val="dk1"/>
                </a:solidFill>
              </a:rPr>
              <a:t>Better grounding, fewer hallucinations</a:t>
            </a:r>
            <a:endParaRPr>
              <a:solidFill>
                <a:schemeClr val="dk1"/>
              </a:solidFill>
            </a:endParaRPr>
          </a:p>
          <a:p>
            <a:pPr indent="-177800" lvl="2" marL="863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>
                <a:solidFill>
                  <a:schemeClr val="dk1"/>
                </a:solidFill>
              </a:rPr>
              <a:t>Improved schema adherence and clinical relevance</a:t>
            </a:r>
            <a:endParaRPr/>
          </a:p>
        </p:txBody>
      </p:sp>
      <p:sp>
        <p:nvSpPr>
          <p:cNvPr id="147" name="Google Shape;147;p31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ct val="100000"/>
              <a:buFont typeface="Roboto"/>
              <a:buNone/>
            </a:pPr>
            <a:r>
              <a:rPr lang="en"/>
              <a:t>Original Paper: Multimodal Retrieval-Augmented Med-VQA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929625" y="911650"/>
            <a:ext cx="7507200" cy="3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Char char="•"/>
            </a:pPr>
            <a:r>
              <a:rPr lang="en"/>
              <a:t>Dataset: VQA-RAD – radiology visual QA benchmark with 451 test samples in our setting.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524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Goals: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Reproduce a </a:t>
            </a:r>
            <a:r>
              <a:rPr b="1" lang="en"/>
              <a:t>baseline model</a:t>
            </a:r>
            <a:r>
              <a:rPr lang="en"/>
              <a:t> on VQA-RAD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Design a </a:t>
            </a:r>
            <a:r>
              <a:rPr b="1" lang="en"/>
              <a:t>Stage 2 improved model</a:t>
            </a:r>
            <a:r>
              <a:rPr lang="en"/>
              <a:t> inspired by retrieval-based and semantic ideas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Perform </a:t>
            </a:r>
            <a:r>
              <a:rPr b="1" lang="en"/>
              <a:t>systematic error analysis</a:t>
            </a:r>
            <a:r>
              <a:rPr lang="en"/>
              <a:t>: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Which question types fail most?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How does Stage 2 change the error distribution?</a:t>
            </a:r>
            <a:endParaRPr/>
          </a:p>
        </p:txBody>
      </p:sp>
      <p:sp>
        <p:nvSpPr>
          <p:cNvPr id="153" name="Google Shape;153;p32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700"/>
              <a:buFont typeface="Roboto"/>
              <a:buNone/>
            </a:pPr>
            <a:r>
              <a:rPr lang="en"/>
              <a:t>Project Goals</a:t>
            </a:r>
            <a:endParaRPr/>
          </a:p>
        </p:txBody>
      </p:sp>
      <p:pic>
        <p:nvPicPr>
          <p:cNvPr descr="Clipboard Checked with solid fill" id="154" name="Google Shape;1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7" y="911650"/>
            <a:ext cx="539771" cy="539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285751" y="389163"/>
            <a:ext cx="2949575" cy="891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400"/>
              <a:buFont typeface="Roboto"/>
              <a:buNone/>
            </a:pPr>
            <a:r>
              <a:rPr lang="en"/>
              <a:t>Baseline Model &amp; Evaluation Setup</a:t>
            </a:r>
            <a:endParaRPr/>
          </a:p>
        </p:txBody>
      </p:sp>
      <p:sp>
        <p:nvSpPr>
          <p:cNvPr id="160" name="Google Shape;160;p33"/>
          <p:cNvSpPr txBox="1"/>
          <p:nvPr>
            <p:ph idx="2" type="body"/>
          </p:nvPr>
        </p:nvSpPr>
        <p:spPr>
          <a:xfrm>
            <a:off x="285750" y="1281125"/>
            <a:ext cx="30741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875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Baseline pipeline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184150" lvl="1" marL="520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Encode image</a:t>
            </a:r>
            <a:endParaRPr sz="1500">
              <a:solidFill>
                <a:schemeClr val="dk1"/>
              </a:solidFill>
            </a:endParaRPr>
          </a:p>
          <a:p>
            <a:pPr indent="-184150" lvl="1" marL="520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Encode question text</a:t>
            </a:r>
            <a:endParaRPr sz="1500">
              <a:solidFill>
                <a:schemeClr val="dk1"/>
              </a:solidFill>
            </a:endParaRPr>
          </a:p>
          <a:p>
            <a:pPr indent="-184150" lvl="1" marL="520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Fuse features → answer predictor </a:t>
            </a:r>
            <a:endParaRPr sz="1500">
              <a:solidFill>
                <a:schemeClr val="dk1"/>
              </a:solidFill>
            </a:endParaRPr>
          </a:p>
          <a:p>
            <a:pPr indent="0" lvl="0" marL="520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18415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Evaluation:</a:t>
            </a:r>
            <a:endParaRPr sz="1500">
              <a:solidFill>
                <a:schemeClr val="dk1"/>
              </a:solidFill>
            </a:endParaRPr>
          </a:p>
          <a:p>
            <a:pPr indent="-184150" lvl="1" marL="520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Strict exact-match accuracy on test answers</a:t>
            </a:r>
            <a:endParaRPr sz="1500">
              <a:solidFill>
                <a:schemeClr val="dk1"/>
              </a:solidFill>
            </a:endParaRPr>
          </a:p>
          <a:p>
            <a:pPr indent="-184150" lvl="1" marL="520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No credit for synonyms or more specific wording</a:t>
            </a:r>
            <a:endParaRPr sz="1500">
              <a:solidFill>
                <a:schemeClr val="dk1"/>
              </a:solidFill>
            </a:endParaRPr>
          </a:p>
          <a:p>
            <a:pPr indent="0" lvl="0" marL="520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18415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Raw baseline accuracy: 35.03%</a:t>
            </a:r>
            <a:endParaRPr sz="1500">
              <a:solidFill>
                <a:schemeClr val="dk1"/>
              </a:solidFill>
            </a:endParaRPr>
          </a:p>
          <a:p>
            <a:pPr indent="-18415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After counting clearly equivalent answers: 36.81%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0687" y="389200"/>
            <a:ext cx="5297613" cy="359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285750" y="150541"/>
            <a:ext cx="8572500" cy="761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2700"/>
              <a:buFont typeface="Roboto"/>
              <a:buNone/>
            </a:pPr>
            <a:r>
              <a:rPr lang="en"/>
              <a:t>Performance Metrics</a:t>
            </a:r>
            <a:endParaRPr/>
          </a:p>
        </p:txBody>
      </p:sp>
      <p:pic>
        <p:nvPicPr>
          <p:cNvPr id="167" name="Google Shape;1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064000"/>
            <a:ext cx="4626876" cy="31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idx="1" type="body"/>
          </p:nvPr>
        </p:nvSpPr>
        <p:spPr>
          <a:xfrm>
            <a:off x="285750" y="911625"/>
            <a:ext cx="84027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6922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ct val="100000"/>
              <a:buChar char="•"/>
            </a:pPr>
            <a:r>
              <a:rPr lang="en"/>
              <a:t>Problem in MasonNLP</a:t>
            </a:r>
            <a:endParaRPr/>
          </a:p>
          <a:p>
            <a:pPr indent="-171132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3333"/>
              <a:buChar char="•"/>
            </a:pPr>
            <a:r>
              <a:rPr lang="en"/>
              <a:t>Retrieval only used the </a:t>
            </a:r>
            <a:r>
              <a:rPr b="1" lang="en"/>
              <a:t>raw question text</a:t>
            </a:r>
            <a:endParaRPr b="1"/>
          </a:p>
          <a:p>
            <a:pPr indent="-171132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3333"/>
              <a:buChar char="•"/>
            </a:pPr>
            <a:r>
              <a:rPr lang="en"/>
              <a:t>Complex or multi-part questions often pulled </a:t>
            </a:r>
            <a:r>
              <a:rPr b="1" lang="en"/>
              <a:t>weak exemplars</a:t>
            </a:r>
            <a:endParaRPr b="1"/>
          </a:p>
          <a:p>
            <a:pPr indent="0" lvl="1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ct val="100000"/>
              <a:buNone/>
            </a:pPr>
            <a:r>
              <a:t/>
            </a:r>
            <a:endParaRPr/>
          </a:p>
          <a:p>
            <a:pPr indent="-177006" lvl="0" marL="177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ct val="83333"/>
              <a:buChar char="•"/>
            </a:pPr>
            <a:r>
              <a:rPr lang="en"/>
              <a:t>Purpose:</a:t>
            </a:r>
            <a:endParaRPr/>
          </a:p>
          <a:p>
            <a:pPr indent="-171132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93333"/>
              <a:buChar char="•"/>
            </a:pPr>
            <a:r>
              <a:rPr lang="en"/>
              <a:t>Use LLM-driven (google/flan-t5-large) </a:t>
            </a:r>
            <a:r>
              <a:rPr b="1" lang="en"/>
              <a:t>query rewriting</a:t>
            </a:r>
            <a:r>
              <a:rPr lang="en"/>
              <a:t> to create richer variants before retrieval:</a:t>
            </a:r>
            <a:endParaRPr b="1"/>
          </a:p>
          <a:p>
            <a:pPr indent="-171132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HyDERewrite</a:t>
            </a:r>
            <a:r>
              <a:rPr lang="en"/>
              <a:t>: generate 1–2 hypothetical answers to turn into additional queries</a:t>
            </a:r>
            <a:endParaRPr/>
          </a:p>
          <a:p>
            <a:pPr indent="-171132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DecompositionRewrite</a:t>
            </a:r>
            <a:r>
              <a:rPr lang="en"/>
              <a:t>: split a complex question into up to 3 simpler sub-questions</a:t>
            </a:r>
            <a:endParaRPr/>
          </a:p>
          <a:p>
            <a:pPr indent="-171132" lvl="1" marL="520700" rtl="0" algn="l">
              <a:spcBef>
                <a:spcPts val="400"/>
              </a:spcBef>
              <a:spcAft>
                <a:spcPts val="0"/>
              </a:spcAft>
              <a:buSzPct val="93333"/>
              <a:buChar char="•"/>
            </a:pPr>
            <a:r>
              <a:rPr lang="en">
                <a:solidFill>
                  <a:schemeClr val="dk1"/>
                </a:solidFill>
              </a:rPr>
              <a:t>More relevant exemplars for tricky cases (binary, pathology, localization)</a:t>
            </a:r>
            <a:endParaRPr/>
          </a:p>
        </p:txBody>
      </p:sp>
      <p:sp>
        <p:nvSpPr>
          <p:cNvPr id="173" name="Google Shape;173;p35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Model: Query Rewriting</a:t>
            </a:r>
            <a:endParaRPr/>
          </a:p>
        </p:txBody>
      </p:sp>
      <p:pic>
        <p:nvPicPr>
          <p:cNvPr id="174" name="Google Shape;1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50" y="2851075"/>
            <a:ext cx="6319149" cy="21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285750" y="911625"/>
            <a:ext cx="84027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Char char="•"/>
            </a:pPr>
            <a:r>
              <a:rPr lang="en"/>
              <a:t>Problem in MasonNLP-style baseline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Baseline ranked candidates only by </a:t>
            </a:r>
            <a:r>
              <a:rPr b="1" lang="en"/>
              <a:t>embedding similarity</a:t>
            </a:r>
            <a:endParaRPr b="1"/>
          </a:p>
          <a:p>
            <a:pPr indent="-177800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Top hits were sometimes </a:t>
            </a:r>
            <a:r>
              <a:rPr b="1" lang="en"/>
              <a:t>lexically close but clinically off</a:t>
            </a:r>
            <a:r>
              <a:rPr lang="en"/>
              <a:t>, leading to noisy or misleading answers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None/>
            </a:pPr>
            <a:r>
              <a:t/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Char char="•"/>
            </a:pPr>
            <a:r>
              <a:rPr lang="en"/>
              <a:t>Purpose: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 a </a:t>
            </a:r>
            <a:r>
              <a:rPr b="1" lang="en"/>
              <a:t>MiniLM cross-encoder reranker</a:t>
            </a:r>
            <a:r>
              <a:rPr lang="en"/>
              <a:t> to re-score:</a:t>
            </a:r>
            <a:endParaRPr b="1"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How well each exemplar actually answers the question	</a:t>
            </a:r>
            <a:endParaRPr/>
          </a:p>
          <a:p>
            <a:pPr indent="-177800" lvl="1" marL="520700" rtl="0" algn="l"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Filters noisy exemplars; keeps the most clinically aligned ones</a:t>
            </a:r>
            <a:endParaRPr/>
          </a:p>
        </p:txBody>
      </p:sp>
      <p:sp>
        <p:nvSpPr>
          <p:cNvPr id="180" name="Google Shape;180;p36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Model: </a:t>
            </a:r>
            <a:r>
              <a:rPr lang="en"/>
              <a:t>Reranker</a:t>
            </a:r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75" y="2998025"/>
            <a:ext cx="5755126" cy="19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285750" y="911625"/>
            <a:ext cx="8402700" cy="18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Char char="•"/>
            </a:pPr>
            <a:r>
              <a:rPr lang="en"/>
              <a:t>Problem in MasonNLP-style baseline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Baseline often copied </a:t>
            </a:r>
            <a:r>
              <a:rPr b="1" lang="en"/>
              <a:t>one exemplar’s answer</a:t>
            </a:r>
            <a:endParaRPr b="1"/>
          </a:p>
          <a:p>
            <a:pPr indent="-177800" lvl="1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If that one exemplar was an outlier, the final prediction was wrong, even when other good exemplars existed</a:t>
            </a:r>
            <a:endParaRPr b="1"/>
          </a:p>
          <a:p>
            <a:pPr indent="0" lvl="1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None/>
            </a:pPr>
            <a:r>
              <a:t/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3057"/>
              </a:buClr>
              <a:buSzPts val="1500"/>
              <a:buChar char="•"/>
            </a:pPr>
            <a:r>
              <a:rPr lang="en"/>
              <a:t>Purpose:</a:t>
            </a:r>
            <a:endParaRPr b="1"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Use </a:t>
            </a:r>
            <a:r>
              <a:rPr b="1" lang="en"/>
              <a:t>majority voting</a:t>
            </a:r>
            <a:r>
              <a:rPr lang="en"/>
              <a:t> across top-k exemplars to stabilize predictions and reduce the impact of any one bad exemplar</a:t>
            </a:r>
            <a:endParaRPr/>
          </a:p>
          <a:p>
            <a:pPr indent="-177800" lvl="1" marL="5207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">
                <a:solidFill>
                  <a:schemeClr val="dk1"/>
                </a:solidFill>
              </a:rPr>
              <a:t>Smooths out outliers and </a:t>
            </a:r>
            <a:r>
              <a:rPr b="1" lang="en">
                <a:solidFill>
                  <a:schemeClr val="dk1"/>
                </a:solidFill>
              </a:rPr>
              <a:t>reduces variance</a:t>
            </a:r>
            <a:r>
              <a:rPr lang="en">
                <a:solidFill>
                  <a:schemeClr val="dk1"/>
                </a:solidFill>
              </a:rPr>
              <a:t> from noisy exemplars</a:t>
            </a:r>
            <a:endParaRPr/>
          </a:p>
        </p:txBody>
      </p:sp>
      <p:sp>
        <p:nvSpPr>
          <p:cNvPr id="187" name="Google Shape;187;p37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Model: Majority Voting</a:t>
            </a:r>
            <a:endParaRPr/>
          </a:p>
        </p:txBody>
      </p:sp>
      <p:pic>
        <p:nvPicPr>
          <p:cNvPr id="188" name="Google Shape;1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75" y="2998025"/>
            <a:ext cx="5755126" cy="19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</a:t>
            </a:r>
            <a:r>
              <a:rPr lang="en"/>
              <a:t>: Baseline vs Stage 2</a:t>
            </a:r>
            <a:endParaRPr/>
          </a:p>
        </p:txBody>
      </p:sp>
      <p:pic>
        <p:nvPicPr>
          <p:cNvPr id="194" name="Google Shape;1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871617"/>
            <a:ext cx="5678950" cy="3927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Improvements</a:t>
            </a:r>
            <a:endParaRPr/>
          </a:p>
        </p:txBody>
      </p:sp>
      <p:pic>
        <p:nvPicPr>
          <p:cNvPr id="200" name="Google Shape;2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842017"/>
            <a:ext cx="3845809" cy="3927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9" title="test_0012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441" y="768026"/>
            <a:ext cx="2487808" cy="205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9" title="test_0026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2449" y="2998074"/>
            <a:ext cx="2487800" cy="195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>
            <p:ph idx="1" type="body"/>
          </p:nvPr>
        </p:nvSpPr>
        <p:spPr>
          <a:xfrm>
            <a:off x="285750" y="911626"/>
            <a:ext cx="8572500" cy="358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Dataset: 5,000+ pathology images and 33,000+ Q–A pairs; more diverse and harder than VQA-RAD.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Settings: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/>
              <a:t>Baseline:</a:t>
            </a:r>
            <a:r>
              <a:rPr lang="en"/>
              <a:t> no retrieval, no rewriting, no reranking (FLAN-T5 only).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/>
              <a:t>Hybrid RAG:</a:t>
            </a:r>
            <a:r>
              <a:rPr lang="en"/>
              <a:t> HyDE + decomposition + MiniLM cross-encoder reranker (text + image retrieval).</a:t>
            </a:r>
            <a:endParaRPr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Accuracy on PathVQA (test, n = 3000):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Baseline (no RAG): </a:t>
            </a:r>
            <a:r>
              <a:rPr b="1" lang="en"/>
              <a:t>26.7%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Hybrid RAG: </a:t>
            </a:r>
            <a:r>
              <a:rPr b="1" lang="en"/>
              <a:t>32.4%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/>
              <a:t>+5.7 percentage points</a:t>
            </a:r>
            <a:r>
              <a:rPr lang="en"/>
              <a:t> improvement</a:t>
            </a:r>
            <a:endParaRPr/>
          </a:p>
        </p:txBody>
      </p:sp>
      <p:sp>
        <p:nvSpPr>
          <p:cNvPr id="208" name="Google Shape;208;p40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on Other Datasets - PathVQA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on Other Datasets - </a:t>
            </a:r>
            <a:r>
              <a:rPr lang="en"/>
              <a:t>SLAKE</a:t>
            </a:r>
            <a:endParaRPr/>
          </a:p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285750" y="911626"/>
            <a:ext cx="8572500" cy="358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Dataset: </a:t>
            </a:r>
            <a:r>
              <a:rPr lang="en"/>
              <a:t>Semantically-labeled, bilingual Med-VQA dataset with ontology-style annotations and diverse question types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Settings: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/>
              <a:t>Baseline:</a:t>
            </a:r>
            <a:r>
              <a:rPr lang="en"/>
              <a:t> no retrieval, no rewriting, no reranking (FLAN-T5 only).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/>
              <a:t>Hybrid RAG:</a:t>
            </a:r>
            <a:r>
              <a:rPr lang="en"/>
              <a:t> HyDE + decomposition + MiniLM cross-encoder reranker (text + image retrieval).</a:t>
            </a:r>
            <a:endParaRPr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Accuracy on SLAKE: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Baseline (no RAG): </a:t>
            </a:r>
            <a:r>
              <a:rPr b="1" lang="en"/>
              <a:t>48.5</a:t>
            </a:r>
            <a:r>
              <a:rPr b="1" lang="en"/>
              <a:t>%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Hybrid RAG: </a:t>
            </a:r>
            <a:r>
              <a:rPr b="1" lang="en"/>
              <a:t>43.6</a:t>
            </a:r>
            <a:r>
              <a:rPr b="1" lang="en"/>
              <a:t>%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/>
              <a:t>-4.9 percentage points</a:t>
            </a:r>
            <a:r>
              <a:rPr lang="en"/>
              <a:t> drop in accuracy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idx="1" type="body"/>
          </p:nvPr>
        </p:nvSpPr>
        <p:spPr>
          <a:xfrm>
            <a:off x="285750" y="911627"/>
            <a:ext cx="8572500" cy="373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Future Work: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</a:pPr>
            <a:r>
              <a:rPr lang="en" sz="1500"/>
              <a:t>Dataset-aware RAG: Tune or disable rewriting / reranking per dataset (e.g., SLAKE may need lighter RAG than VQA-RAD / PathVQA).</a:t>
            </a:r>
            <a:endParaRPr sz="15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" sz="1500"/>
              <a:t>Stronger components: Try larger or domain-tuned LLMs for HyDE / decomposition and LLM-based rerankers; improve vision encoders for retrieval.</a:t>
            </a:r>
            <a:endParaRPr sz="15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" sz="1500"/>
              <a:t>Smarter evaluation: Add semantic / ontology-based matching and small human audits so clinically valid answers aren’t punished by string match.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Key Takeaways: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</a:pPr>
            <a:r>
              <a:rPr lang="en" sz="1500"/>
              <a:t>A config-driven hybrid pipeline (query rewriting + reranker + majority voting) improves retrieval without changing the core VQA model.</a:t>
            </a:r>
            <a:endParaRPr sz="15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" sz="1500"/>
              <a:t>It helps on noisy, free-text datasets (VQA-RAD, PathVQA) but can hurt on structured SLAKE, so RAG must be tuned, not blindly applied.</a:t>
            </a:r>
            <a:endParaRPr sz="15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" sz="1500"/>
              <a:t>The framework is easy to extend—future teams can swap models or rewrite chains by just editing configs.</a:t>
            </a:r>
            <a:endParaRPr sz="1500"/>
          </a:p>
        </p:txBody>
      </p:sp>
      <p:sp>
        <p:nvSpPr>
          <p:cNvPr id="220" name="Google Shape;220;p42"/>
          <p:cNvSpPr txBox="1"/>
          <p:nvPr>
            <p:ph type="title"/>
          </p:nvPr>
        </p:nvSpPr>
        <p:spPr>
          <a:xfrm>
            <a:off x="285750" y="150541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&amp; Takeaways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3"/>
          <p:cNvSpPr txBox="1"/>
          <p:nvPr>
            <p:ph type="title"/>
          </p:nvPr>
        </p:nvSpPr>
        <p:spPr>
          <a:xfrm>
            <a:off x="285750" y="1495917"/>
            <a:ext cx="8572500" cy="761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you!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nt Page">
  <a:themeElements>
    <a:clrScheme name="GT Theme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003057"/>
      </a:accent2>
      <a:accent3>
        <a:srgbClr val="54585A"/>
      </a:accent3>
      <a:accent4>
        <a:srgbClr val="D6DBD4"/>
      </a:accent4>
      <a:accent5>
        <a:srgbClr val="F9F6E5"/>
      </a:accent5>
      <a:accent6>
        <a:srgbClr val="EAAA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le Page">
  <a:themeElements>
    <a:clrScheme name="Custom 1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64CCC9"/>
      </a:accent2>
      <a:accent3>
        <a:srgbClr val="A3D233"/>
      </a:accent3>
      <a:accent4>
        <a:srgbClr val="EAAA00"/>
      </a:accent4>
      <a:accent5>
        <a:srgbClr val="008C95"/>
      </a:accent5>
      <a:accent6>
        <a:srgbClr val="7800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